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61" r:id="rId7"/>
    <p:sldId id="262" r:id="rId8"/>
    <p:sldId id="289" r:id="rId9"/>
    <p:sldId id="295" r:id="rId10"/>
    <p:sldId id="296" r:id="rId11"/>
    <p:sldId id="297" r:id="rId12"/>
    <p:sldId id="264" r:id="rId13"/>
    <p:sldId id="276" r:id="rId14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5C51C6-8CD9-4F7F-B899-B259B522AF31}" type="datetime1">
              <a:rPr lang="en-GB" smtClean="0"/>
              <a:t>03/05/2025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EBA25-0AFC-482A-A4F4-4C60B04CD784}" type="datetime1">
              <a:rPr lang="en-GB" smtClean="0"/>
              <a:pPr/>
              <a:t>03/05/2025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522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21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880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541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153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4FD4-1669-B008-42A5-29BA2B7A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C69BD-DDA6-4F25-814D-7210A4FD4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69E6C-B840-D4B8-EA4E-5D94CEFAF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9FC83-71A4-7757-C2A1-1ED98B248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862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6638-3676-EEA6-504A-87DC2D7E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3078-95DC-0446-491A-196EFA149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34690-C1BC-9794-FA99-39D5E1265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3EAA2-A4E6-F18D-95C3-231484860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815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BE17-61F6-3997-3736-6D3B696E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73D5A-F863-9A85-45BB-EBA8B03DC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0F2CA-9CB4-1E06-87D8-68FC8434C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050EB-7100-238D-711B-406535455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696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93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3429000"/>
            <a:ext cx="4941771" cy="850392"/>
          </a:xfrm>
        </p:spPr>
        <p:txBody>
          <a:bodyPr rtlCol="0"/>
          <a:lstStyle/>
          <a:p>
            <a:r>
              <a:rPr lang="en-GB" b="1" dirty="0"/>
              <a:t>Impact from Day 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4703" y="6373274"/>
            <a:ext cx="1902915" cy="396660"/>
          </a:xfrm>
        </p:spPr>
        <p:txBody>
          <a:bodyPr rtlCol="0"/>
          <a:lstStyle/>
          <a:p>
            <a:pPr rtl="0"/>
            <a:r>
              <a:rPr lang="en-GB" dirty="0"/>
              <a:t>Mahmoud Ali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493A4D4-EC25-8D08-8E11-32CDD302765D}"/>
              </a:ext>
            </a:extLst>
          </p:cNvPr>
          <p:cNvSpPr txBox="1">
            <a:spLocks/>
          </p:cNvSpPr>
          <p:nvPr/>
        </p:nvSpPr>
        <p:spPr>
          <a:xfrm>
            <a:off x="7013448" y="4279392"/>
            <a:ext cx="4818888" cy="58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/>
              <a:t>Project Portfolio – Strategic Applications for National Paints Group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4E52FA1-ABCD-7235-6F0D-50FD4A3F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465" y="4238626"/>
            <a:ext cx="625983" cy="62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4" y="594360"/>
            <a:ext cx="6518146" cy="466344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dirty="0"/>
              <a:t>Summary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FE98044-9D04-57B0-2FCF-19B1E0AC2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600201"/>
            <a:ext cx="4202805" cy="1618487"/>
          </a:xfrm>
        </p:spPr>
        <p:txBody>
          <a:bodyPr>
            <a:normAutofit lnSpcReduction="10000"/>
          </a:bodyPr>
          <a:lstStyle/>
          <a:p>
            <a:r>
              <a:rPr lang="en-GB" sz="1800" b="1" dirty="0"/>
              <a:t>This portfolio presents 4 real-world projects</a:t>
            </a:r>
            <a:r>
              <a:rPr lang="en-GB" sz="1800" dirty="0"/>
              <a:t>—each tested in live business contexts and fully adaptable to National Paints Group.</a:t>
            </a:r>
            <a:br>
              <a:rPr lang="en-GB" sz="1800" dirty="0"/>
            </a:br>
            <a:endParaRPr lang="en-GB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704EA-F038-83C3-427C-77DB9DC99480}"/>
              </a:ext>
            </a:extLst>
          </p:cNvPr>
          <p:cNvSpPr txBox="1"/>
          <p:nvPr/>
        </p:nvSpPr>
        <p:spPr>
          <a:xfrm>
            <a:off x="2752344" y="3822192"/>
            <a:ext cx="3108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It demonstrates how I can contribute to your </a:t>
            </a:r>
            <a:r>
              <a:rPr lang="en-GB" sz="1800" b="1" dirty="0"/>
              <a:t>market research, channel performance, and product strategy</a:t>
            </a:r>
            <a:r>
              <a:rPr lang="en-GB" sz="1800" dirty="0"/>
              <a:t> from Day 1.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3D6429-641F-01AB-AD8B-25071FCF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94" y="551434"/>
            <a:ext cx="5524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799140-CFAC-0242-637C-9464B73F932F}"/>
              </a:ext>
            </a:extLst>
          </p:cNvPr>
          <p:cNvSpPr txBox="1"/>
          <p:nvPr/>
        </p:nvSpPr>
        <p:spPr>
          <a:xfrm>
            <a:off x="1247097" y="5921312"/>
            <a:ext cx="7811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/>
              <a:t>“I don’t just study the market — I’ve built tools and made decisions that fixed it.”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A99A6D1-7497-F39F-6C87-11A5D7E7153A}"/>
              </a:ext>
            </a:extLst>
          </p:cNvPr>
          <p:cNvSpPr txBox="1"/>
          <p:nvPr/>
        </p:nvSpPr>
        <p:spPr>
          <a:xfrm>
            <a:off x="3209544" y="366618"/>
            <a:ext cx="8217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How This Portfolio Aligns with National Paints Group’s Needs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27581E-C78F-8BF6-7285-2F5DB5E22077}"/>
              </a:ext>
            </a:extLst>
          </p:cNvPr>
          <p:cNvSpPr txBox="1"/>
          <p:nvPr/>
        </p:nvSpPr>
        <p:spPr>
          <a:xfrm>
            <a:off x="605790" y="1598414"/>
            <a:ext cx="202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b="1" dirty="0"/>
              <a:t>Market Research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D96D77C-1FCF-75CD-3F32-CCB859BB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8" y="1506855"/>
            <a:ext cx="5524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C58FCE-D7F6-B175-D7C5-B0C143BA9F63}"/>
              </a:ext>
            </a:extLst>
          </p:cNvPr>
          <p:cNvSpPr txBox="1"/>
          <p:nvPr/>
        </p:nvSpPr>
        <p:spPr>
          <a:xfrm>
            <a:off x="4271009" y="1598414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Consumer behaviour analysis, competitor benchmarking, trend scanning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9A3D14-31A6-9900-E297-E2412623BEA4}"/>
              </a:ext>
            </a:extLst>
          </p:cNvPr>
          <p:cNvSpPr txBox="1"/>
          <p:nvPr/>
        </p:nvSpPr>
        <p:spPr>
          <a:xfrm>
            <a:off x="1482852" y="2651819"/>
            <a:ext cx="1661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Data Analysis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DDF2E416-28DA-9174-36F4-74839CC3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02" y="2549271"/>
            <a:ext cx="5524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9F52864-92AA-7F31-9992-F774BF81548C}"/>
              </a:ext>
            </a:extLst>
          </p:cNvPr>
          <p:cNvSpPr txBox="1"/>
          <p:nvPr/>
        </p:nvSpPr>
        <p:spPr>
          <a:xfrm>
            <a:off x="4793742" y="2640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Dashboards, clustering models, profitability simulators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F4D35CD-EFCA-3A6F-757B-D68FEF798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06" y="3613665"/>
            <a:ext cx="5524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794CA98-358B-4E06-7FA1-B5E334FB0BD4}"/>
              </a:ext>
            </a:extLst>
          </p:cNvPr>
          <p:cNvSpPr txBox="1"/>
          <p:nvPr/>
        </p:nvSpPr>
        <p:spPr>
          <a:xfrm>
            <a:off x="1820799" y="3705224"/>
            <a:ext cx="1936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Field Intelligence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9FD756-9E71-5C04-3F5D-50DE5C14D016}"/>
              </a:ext>
            </a:extLst>
          </p:cNvPr>
          <p:cNvSpPr txBox="1"/>
          <p:nvPr/>
        </p:nvSpPr>
        <p:spPr>
          <a:xfrm>
            <a:off x="5254751" y="3751390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Store visits, retailer interviews, channel bottleneck identification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A10E57-8C2E-1243-A4D3-BB3E4CE50850}"/>
              </a:ext>
            </a:extLst>
          </p:cNvPr>
          <p:cNvSpPr txBox="1"/>
          <p:nvPr/>
        </p:nvSpPr>
        <p:spPr>
          <a:xfrm>
            <a:off x="2123694" y="4798520"/>
            <a:ext cx="2466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KPI Development &amp; Performance Insights</a:t>
            </a:r>
            <a:endParaRPr lang="en-GB" dirty="0"/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B62D6AA1-5A2D-11A2-279C-D57B437FC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244" y="4844687"/>
            <a:ext cx="5524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4164CA0B-FABE-3972-740D-960D2B328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31492"/>
              </p:ext>
            </p:extLst>
          </p:nvPr>
        </p:nvGraphicFramePr>
        <p:xfrm>
          <a:off x="5908166" y="4758628"/>
          <a:ext cx="4865370" cy="536784"/>
        </p:xfrm>
        <a:graphic>
          <a:graphicData uri="http://schemas.openxmlformats.org/drawingml/2006/table">
            <a:tbl>
              <a:tblPr/>
              <a:tblGrid>
                <a:gridCol w="4865370">
                  <a:extLst>
                    <a:ext uri="{9D8B030D-6E8A-4147-A177-3AD203B41FA5}">
                      <a16:colId xmlns:a16="http://schemas.microsoft.com/office/drawing/2014/main" val="745432328"/>
                    </a:ext>
                  </a:extLst>
                </a:gridCol>
              </a:tblGrid>
              <a:tr h="536784">
                <a:tc>
                  <a:txBody>
                    <a:bodyPr/>
                    <a:lstStyle/>
                    <a:p>
                      <a:r>
                        <a:rPr lang="en-GB" dirty="0"/>
                        <a:t>Adaptable KPI frameworks (Power BI,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192043"/>
                  </a:ext>
                </a:extLst>
              </a:tr>
            </a:tbl>
          </a:graphicData>
        </a:graphic>
      </p:graphicFrame>
      <p:sp>
        <p:nvSpPr>
          <p:cNvPr id="51" name="Rectangle 12">
            <a:extLst>
              <a:ext uri="{FF2B5EF4-FFF2-40B4-BE49-F238E27FC236}">
                <a16:creationId xmlns:a16="http://schemas.microsoft.com/office/drawing/2014/main" id="{C4786ADC-D8E4-BF2D-7D3C-44333E5F4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7"/>
            <a:ext cx="10655808" cy="940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BB79FD-D408-DB95-F725-E5B8F16BDA81}"/>
              </a:ext>
            </a:extLst>
          </p:cNvPr>
          <p:cNvSpPr txBox="1"/>
          <p:nvPr/>
        </p:nvSpPr>
        <p:spPr>
          <a:xfrm>
            <a:off x="309753" y="6091375"/>
            <a:ext cx="609447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i="1" dirty="0"/>
              <a:t>“...monitor marketing trends, </a:t>
            </a:r>
            <a:r>
              <a:rPr lang="en-GB" sz="1200" i="1" dirty="0"/>
              <a:t>perform</a:t>
            </a:r>
            <a:r>
              <a:rPr lang="en-GB" sz="1100" i="1" dirty="0"/>
              <a:t> fieldwork, and deliver research &amp; reporting…”</a:t>
            </a:r>
            <a:br>
              <a:rPr lang="en-GB" sz="1100" dirty="0"/>
            </a:br>
            <a:r>
              <a:rPr lang="en-GB" sz="1100" dirty="0"/>
              <a:t>— </a:t>
            </a:r>
            <a:r>
              <a:rPr lang="en-GB" sz="1100" i="1" dirty="0"/>
              <a:t>From National Paints Group Job Description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n-GB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n-GB" dirty="0"/>
              <a:t>KSA Market Entry Research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/>
          <a:lstStyle/>
          <a:p>
            <a:pPr rtl="0"/>
            <a:r>
              <a:rPr lang="en-GB" dirty="0"/>
              <a:t>Regional analysis, market sizing, regulatory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507225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n-GB" dirty="0"/>
              <a:t>SKU Profit &amp; Investment Planning Tool	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rtlCol="0"/>
          <a:lstStyle/>
          <a:p>
            <a:pPr rtl="0"/>
            <a:r>
              <a:rPr lang="en-GB" dirty="0"/>
              <a:t>Unit economics, financial </a:t>
            </a:r>
            <a:r>
              <a:rPr lang="en-GB" dirty="0" err="1"/>
              <a:t>modeling</a:t>
            </a:r>
            <a:r>
              <a:rPr lang="en-GB" dirty="0"/>
              <a:t>, pricing simulation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269757"/>
            <a:ext cx="4031945" cy="556900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en-GB" dirty="0"/>
              <a:t>HR KPI Dashboard → SKU </a:t>
            </a:r>
            <a:r>
              <a:rPr lang="en-GB" sz="2200" dirty="0"/>
              <a:t>Performance</a:t>
            </a:r>
            <a:r>
              <a:rPr lang="en-GB" dirty="0"/>
              <a:t> Dashboard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pPr rtl="0"/>
            <a:r>
              <a:rPr lang="en-GB" dirty="0"/>
              <a:t>Business intelligence, KPI design, cross-domain logic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645761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Clustering Market Segments	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/>
          <a:lstStyle/>
          <a:p>
            <a:pPr rtl="0"/>
            <a:r>
              <a:rPr lang="en-GB" dirty="0"/>
              <a:t>Customer segmentation, product mapping, smart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788B78-6068-F34F-4869-69F6A0DEBAC6}"/>
              </a:ext>
            </a:extLst>
          </p:cNvPr>
          <p:cNvSpPr txBox="1"/>
          <p:nvPr/>
        </p:nvSpPr>
        <p:spPr>
          <a:xfrm>
            <a:off x="5337810" y="5883964"/>
            <a:ext cx="61036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i="1" dirty="0"/>
              <a:t>Each project has been successfully implemented in real business contexts and is immediately adaptable to your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5596128"/>
            <a:ext cx="4520184" cy="950976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sz="2400" u="sng" dirty="0"/>
              <a:t>1. KSA Market Entry Research – Oral Care &amp; Functional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8502" y="124717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Tools Used: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8077" y="1576596"/>
            <a:ext cx="3834819" cy="557950"/>
          </a:xfrm>
        </p:spPr>
        <p:txBody>
          <a:bodyPr rtlCol="0">
            <a:normAutofit/>
          </a:bodyPr>
          <a:lstStyle/>
          <a:p>
            <a:pPr rtl="0"/>
            <a:r>
              <a:rPr lang="en-GB" sz="1200" dirty="0"/>
              <a:t>Excel · </a:t>
            </a:r>
            <a:r>
              <a:rPr lang="en-GB" sz="1200" dirty="0" err="1"/>
              <a:t>TradeMap</a:t>
            </a:r>
            <a:r>
              <a:rPr lang="en-GB" sz="1200" dirty="0"/>
              <a:t> · Regulatory Datasets (SFDA) · Competitive Benchmarking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8502" y="2346967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Key Outcomes: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48076" y="2676391"/>
            <a:ext cx="3533068" cy="1469517"/>
          </a:xfrm>
        </p:spPr>
        <p:txBody>
          <a:bodyPr rtlCol="0">
            <a:normAutofit fontScale="92500" lnSpcReduction="10000"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Designed full export readiness roadmap aligned with Saudi regulations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 err="1"/>
              <a:t>Analyzed</a:t>
            </a:r>
            <a:r>
              <a:rPr lang="en-GB" dirty="0"/>
              <a:t> pricing bands and competitor positions using live market data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Identified optimal B2B outreach channels and local compliance shortcuts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6354" y="4546560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i="1" dirty="0"/>
              <a:t>Relevance</a:t>
            </a:r>
            <a:r>
              <a:rPr lang="en-GB" dirty="0"/>
              <a:t> to National Paints Group: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45929" y="4875985"/>
            <a:ext cx="4873752" cy="557950"/>
          </a:xfrm>
        </p:spPr>
        <p:txBody>
          <a:bodyPr rtlCol="0"/>
          <a:lstStyle/>
          <a:p>
            <a:pPr rtl="0"/>
            <a:r>
              <a:rPr lang="en-GB" i="1" dirty="0"/>
              <a:t>Framework can be directly reused for entering Gulf or North African paint markets with new or regionalized lines.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A28E538C-21D7-8F84-7338-992B0E78D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7" t="25199" r="12904" b="9513"/>
          <a:stretch/>
        </p:blipFill>
        <p:spPr bwMode="auto">
          <a:xfrm>
            <a:off x="5919680" y="265963"/>
            <a:ext cx="5788152" cy="286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graph with a chart and text&#10;&#10;AI-generated content may be incorrect.">
            <a:extLst>
              <a:ext uri="{FF2B5EF4-FFF2-40B4-BE49-F238E27FC236}">
                <a16:creationId xmlns:a16="http://schemas.microsoft.com/office/drawing/2014/main" id="{0838B985-7C17-8328-84B3-AF223AC7D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440" y="3371636"/>
            <a:ext cx="5033833" cy="2999961"/>
          </a:xfrm>
          <a:prstGeom prst="rect">
            <a:avLst/>
          </a:prstGeom>
        </p:spPr>
      </p:pic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D4921F19-BB50-2347-66C1-A6B7ACF9BEEA}"/>
              </a:ext>
            </a:extLst>
          </p:cNvPr>
          <p:cNvSpPr/>
          <p:nvPr/>
        </p:nvSpPr>
        <p:spPr>
          <a:xfrm>
            <a:off x="6214440" y="3338947"/>
            <a:ext cx="5032680" cy="301740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6E7E5E6C-F261-70AD-078B-F24C7D7217F2}"/>
              </a:ext>
            </a:extLst>
          </p:cNvPr>
          <p:cNvSpPr/>
          <p:nvPr/>
        </p:nvSpPr>
        <p:spPr>
          <a:xfrm>
            <a:off x="5919680" y="265963"/>
            <a:ext cx="5788152" cy="286056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58BE-7206-C92F-7C26-A2537D85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B943-A948-3742-B8D6-F4D187E1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5596128"/>
            <a:ext cx="4520184" cy="950976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sz="2400" u="sng" dirty="0"/>
              <a:t>2. SKU Profit &amp; Investment Planning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1544D-C1E9-4A4E-FA01-72B7CC0295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8502" y="124717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Tools Used: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C6FBD-8EB2-1646-7A5B-8C8FA7C175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8077" y="1576596"/>
            <a:ext cx="3834819" cy="557950"/>
          </a:xfrm>
        </p:spPr>
        <p:txBody>
          <a:bodyPr rtlCol="0">
            <a:normAutofit/>
          </a:bodyPr>
          <a:lstStyle/>
          <a:p>
            <a:pPr rtl="0"/>
            <a:r>
              <a:rPr lang="en-GB" sz="1200" dirty="0"/>
              <a:t>Python · </a:t>
            </a:r>
            <a:r>
              <a:rPr lang="en-GB" sz="1200" dirty="0" err="1"/>
              <a:t>Streamlit</a:t>
            </a:r>
            <a:r>
              <a:rPr lang="en-GB" sz="1200" dirty="0"/>
              <a:t> · Excel · Linear Programming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EF3FC-EF1E-F65E-21FC-C40D0832FA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8502" y="2346967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Key Outcomes: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F96494-4D82-AFB0-AADD-100A07A518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48076" y="2676391"/>
            <a:ext cx="3533068" cy="1469517"/>
          </a:xfrm>
        </p:spPr>
        <p:txBody>
          <a:bodyPr rtlCol="0">
            <a:normAutofit fontScale="92500" lnSpcReduction="10000"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Built simulator to visualize profit margins by batch size and packaging volume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Enabled breakeven and investment scenario </a:t>
            </a:r>
            <a:r>
              <a:rPr lang="en-GB" dirty="0" err="1"/>
              <a:t>modeling</a:t>
            </a:r>
            <a:r>
              <a:rPr lang="en-GB" dirty="0"/>
              <a:t> per SKU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Informed strategic batch planning for initial FMCG production cycles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64C98D-C2FA-3B48-2CD5-FF78C2A3B92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6354" y="4546560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i="1" dirty="0"/>
              <a:t>Relevance</a:t>
            </a:r>
            <a:r>
              <a:rPr lang="en-GB" dirty="0"/>
              <a:t> to National Paints Group: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0C55AE-2200-217D-8D99-0C224623BB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45929" y="4875985"/>
            <a:ext cx="4873752" cy="557950"/>
          </a:xfrm>
        </p:spPr>
        <p:txBody>
          <a:bodyPr rtlCol="0"/>
          <a:lstStyle/>
          <a:p>
            <a:r>
              <a:rPr lang="en-GB" i="1" dirty="0"/>
              <a:t>Can be applied to model paint unit costs, format profitability, or investment logic for seasonal campaigns.</a:t>
            </a:r>
            <a:endParaRPr lang="en-GB" dirty="0"/>
          </a:p>
          <a:p>
            <a:pPr rtl="0"/>
            <a:endParaRPr lang="en-GB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AFFF21CA-85BA-03E7-CEF9-FC9DC86EC77E}"/>
              </a:ext>
            </a:extLst>
          </p:cNvPr>
          <p:cNvSpPr/>
          <p:nvPr/>
        </p:nvSpPr>
        <p:spPr>
          <a:xfrm>
            <a:off x="6214440" y="3338947"/>
            <a:ext cx="5032680" cy="301740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5DB808CF-B80E-8E1F-DA74-C7F3588417F9}"/>
              </a:ext>
            </a:extLst>
          </p:cNvPr>
          <p:cNvSpPr/>
          <p:nvPr/>
        </p:nvSpPr>
        <p:spPr>
          <a:xfrm>
            <a:off x="5919680" y="265963"/>
            <a:ext cx="5788152" cy="286056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5466A3BE-353B-DBDD-827D-D066F7F8C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0" b="11442"/>
          <a:stretch/>
        </p:blipFill>
        <p:spPr bwMode="auto">
          <a:xfrm>
            <a:off x="6757342" y="400533"/>
            <a:ext cx="4112828" cy="235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07E5F14C-6495-212C-25C9-F6853E185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28" b="5349"/>
          <a:stretch/>
        </p:blipFill>
        <p:spPr>
          <a:xfrm>
            <a:off x="6464347" y="3467043"/>
            <a:ext cx="4679577" cy="268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8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8F9D-0407-CFB6-5323-AC93F1BC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8ED4-62E5-0DEB-DF6A-E54EB974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5596128"/>
            <a:ext cx="4520184" cy="950976"/>
          </a:xfrm>
        </p:spPr>
        <p:txBody>
          <a:bodyPr rtlCol="0">
            <a:normAutofit/>
          </a:bodyPr>
          <a:lstStyle/>
          <a:p>
            <a:pPr rtl="0"/>
            <a:r>
              <a:rPr lang="en-GB" sz="2000" u="sng" dirty="0"/>
              <a:t>3. KPI Dashboard → SKU Performance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8013F-828E-39CB-154D-7772F6C247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8502" y="124717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Tools Used: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0889B-2507-EBF4-7E75-856BAD5C16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8077" y="1576596"/>
            <a:ext cx="3834819" cy="557950"/>
          </a:xfrm>
        </p:spPr>
        <p:txBody>
          <a:bodyPr rtlCol="0">
            <a:normAutofit/>
          </a:bodyPr>
          <a:lstStyle/>
          <a:p>
            <a:pPr rtl="0"/>
            <a:r>
              <a:rPr lang="en-GB" sz="1200" dirty="0"/>
              <a:t>Power BI · DAX · Power Query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B4761-CE55-7754-04D1-7BFC7D6328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8502" y="2346967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Key Outcomes: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2CAFF2-23CB-C17C-0506-D4F247D41B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48076" y="2676391"/>
            <a:ext cx="3533068" cy="1469517"/>
          </a:xfrm>
        </p:spPr>
        <p:txBody>
          <a:bodyPr rtlCol="0">
            <a:normAutofit fontScale="92500" lnSpcReduction="10000"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Created interactive KPI dashboard originally for HR analytics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Translated key metrics into SKU-focused insights (e.g., attrition = SKU phase-out)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Enabled dynamic filtering by performance, geography, or lifecycle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1C5502-84D6-6C6C-203A-098874C7756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6354" y="4546560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i="1" dirty="0"/>
              <a:t>Relevance</a:t>
            </a:r>
            <a:r>
              <a:rPr lang="en-GB" dirty="0"/>
              <a:t> to National Paints Group: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0F3732-CF1C-9B6E-EB04-D88BFBAA2D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45929" y="4875984"/>
            <a:ext cx="4873752" cy="689957"/>
          </a:xfrm>
        </p:spPr>
        <p:txBody>
          <a:bodyPr rtlCol="0">
            <a:normAutofit/>
          </a:bodyPr>
          <a:lstStyle/>
          <a:p>
            <a:r>
              <a:rPr lang="en-GB" i="1" dirty="0"/>
              <a:t>A ready template to monitor SKU, store, or sales team performance with real-time dashboards.</a:t>
            </a:r>
            <a:endParaRPr lang="en-GB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B888D0DC-1FB3-13B2-F0D7-3BEDFFEBC75E}"/>
              </a:ext>
            </a:extLst>
          </p:cNvPr>
          <p:cNvSpPr/>
          <p:nvPr/>
        </p:nvSpPr>
        <p:spPr>
          <a:xfrm>
            <a:off x="6214440" y="3338947"/>
            <a:ext cx="5032680" cy="301740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7708A2B8-8ACC-2343-5906-D0CFA0B777A6}"/>
              </a:ext>
            </a:extLst>
          </p:cNvPr>
          <p:cNvSpPr/>
          <p:nvPr/>
        </p:nvSpPr>
        <p:spPr>
          <a:xfrm>
            <a:off x="5919680" y="265963"/>
            <a:ext cx="5788152" cy="286056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E30CB9E-53BE-4555-9DAE-19BF31235F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76" b="8136"/>
          <a:stretch/>
        </p:blipFill>
        <p:spPr bwMode="auto">
          <a:xfrm>
            <a:off x="5721315" y="591999"/>
            <a:ext cx="6165640" cy="214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8AE7DDE6-8A23-7D69-B367-46A7F59B4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440" y="3418624"/>
            <a:ext cx="5045665" cy="286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2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F380-79E6-07F5-8BF0-BE51A551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5CD7-8CBA-0CF7-2B32-7A5E3F25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5596128"/>
            <a:ext cx="4520184" cy="950976"/>
          </a:xfrm>
        </p:spPr>
        <p:txBody>
          <a:bodyPr rtlCol="0">
            <a:normAutofit/>
          </a:bodyPr>
          <a:lstStyle/>
          <a:p>
            <a:pPr rtl="0"/>
            <a:r>
              <a:rPr lang="en-GB" sz="2000" u="sng" dirty="0"/>
              <a:t>4. Clustering Market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6223D-99FD-8A6E-4547-1E2971B41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8502" y="124717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Tools Used: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4346C-0BE8-E194-6956-8C3BA45BC1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8077" y="1576596"/>
            <a:ext cx="3834819" cy="557950"/>
          </a:xfrm>
        </p:spPr>
        <p:txBody>
          <a:bodyPr rtlCol="0">
            <a:normAutofit/>
          </a:bodyPr>
          <a:lstStyle/>
          <a:p>
            <a:pPr rtl="0"/>
            <a:r>
              <a:rPr lang="en-GB" sz="1200" dirty="0"/>
              <a:t>Python · TF-IDF · </a:t>
            </a:r>
            <a:r>
              <a:rPr lang="en-GB" sz="1200" dirty="0" err="1"/>
              <a:t>KMeans</a:t>
            </a:r>
            <a:r>
              <a:rPr lang="en-GB" sz="1200" dirty="0"/>
              <a:t> · PCA · </a:t>
            </a:r>
            <a:r>
              <a:rPr lang="en-GB" sz="1200" dirty="0" err="1"/>
              <a:t>Plotly</a:t>
            </a:r>
            <a:r>
              <a:rPr lang="en-GB" sz="1200" dirty="0"/>
              <a:t> · LSA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40C38-A6CB-77D8-AC29-79FF66F864F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8502" y="2346967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dirty="0"/>
              <a:t>Key Outcomes: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1A2DED-4997-F1BE-4B7F-AE894494D0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48076" y="2712091"/>
            <a:ext cx="3405052" cy="1804281"/>
          </a:xfrm>
        </p:spPr>
        <p:txBody>
          <a:bodyPr rtlCol="0">
            <a:normAutofit fontScale="92500"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Used clustering to segment products by margin, price sensitivity, and </a:t>
            </a:r>
            <a:r>
              <a:rPr lang="en-GB" dirty="0" err="1"/>
              <a:t>behavior</a:t>
            </a:r>
            <a:endParaRPr lang="en-GB" dirty="0"/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Applied NLP to group products based on feature-rich descriptions</a:t>
            </a: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GB" dirty="0"/>
              <a:t>Delivered dashboard-ready insights to tailor marketing and pricing strategy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02BF1-6254-F414-28E5-996DCAED00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6354" y="4546560"/>
            <a:ext cx="5433204" cy="365125"/>
          </a:xfrm>
        </p:spPr>
        <p:txBody>
          <a:bodyPr rtlCol="0">
            <a:normAutofit lnSpcReduction="10000"/>
          </a:bodyPr>
          <a:lstStyle/>
          <a:p>
            <a:pPr marL="342900" indent="-342900" rtl="0">
              <a:buFont typeface="Wingdings" panose="05000000000000000000" pitchFamily="2" charset="2"/>
              <a:buChar char="q"/>
            </a:pPr>
            <a:r>
              <a:rPr lang="en-GB" i="1" dirty="0"/>
              <a:t>Relevance</a:t>
            </a:r>
            <a:r>
              <a:rPr lang="en-GB" dirty="0"/>
              <a:t> to National Paints Group: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3BCB7F-A146-363D-F121-01AE0778E7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45929" y="4875984"/>
            <a:ext cx="4873752" cy="689957"/>
          </a:xfrm>
        </p:spPr>
        <p:txBody>
          <a:bodyPr rtlCol="0">
            <a:normAutofit/>
          </a:bodyPr>
          <a:lstStyle/>
          <a:p>
            <a:r>
              <a:rPr lang="en-GB" i="1" dirty="0"/>
              <a:t>Perfect fit to cluster decorative vs. industrial users, price bands, or promotional sensitivity across paint SKUs.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28CAC524-A160-F1C7-C9D3-ABCEACA85B1E}"/>
              </a:ext>
            </a:extLst>
          </p:cNvPr>
          <p:cNvSpPr/>
          <p:nvPr/>
        </p:nvSpPr>
        <p:spPr>
          <a:xfrm>
            <a:off x="6214440" y="3338947"/>
            <a:ext cx="5032680" cy="301740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8417092C-A7CD-2668-C047-D836C45BA9ED}"/>
              </a:ext>
            </a:extLst>
          </p:cNvPr>
          <p:cNvSpPr/>
          <p:nvPr/>
        </p:nvSpPr>
        <p:spPr>
          <a:xfrm>
            <a:off x="5919680" y="265963"/>
            <a:ext cx="5788152" cy="286056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99E47392-043F-90C8-62CE-6C0637787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12" y="462991"/>
            <a:ext cx="5711488" cy="2510831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45828290-FAF6-4B59-CC06-C793D9554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4" b="6681"/>
          <a:stretch/>
        </p:blipFill>
        <p:spPr bwMode="auto">
          <a:xfrm>
            <a:off x="6313303" y="3260903"/>
            <a:ext cx="4933817" cy="307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2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136525"/>
            <a:ext cx="10744200" cy="741299"/>
          </a:xfrm>
        </p:spPr>
        <p:txBody>
          <a:bodyPr rtlCol="0">
            <a:noAutofit/>
          </a:bodyPr>
          <a:lstStyle/>
          <a:p>
            <a:pPr rtl="0"/>
            <a:r>
              <a:rPr lang="en-GB" sz="1800" b="1" dirty="0"/>
              <a:t>Channel Turnaround Strategy- From Field Research to Profit Recovery</a:t>
            </a:r>
            <a:br>
              <a:rPr lang="en-GB" sz="1800" b="1" dirty="0"/>
            </a:br>
            <a:r>
              <a:rPr lang="en-GB" sz="1800" b="1" dirty="0"/>
              <a:t>( </a:t>
            </a:r>
            <a:r>
              <a:rPr lang="en-GB" sz="1800" b="1" i="1" dirty="0"/>
              <a:t>Recent Success Story</a:t>
            </a:r>
            <a:r>
              <a:rPr lang="en-GB" sz="1800" b="1" dirty="0"/>
              <a:t> )</a:t>
            </a:r>
            <a:endParaRPr lang="en-GB" sz="1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2215475-EB17-E8DF-6639-41D237F605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9" b="9805"/>
          <a:stretch/>
        </p:blipFill>
        <p:spPr bwMode="auto">
          <a:xfrm>
            <a:off x="-94488" y="1417320"/>
            <a:ext cx="8863584" cy="316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diagram of a flowchart&#10;&#10;AI-generated content may be incorrect.">
            <a:extLst>
              <a:ext uri="{FF2B5EF4-FFF2-40B4-BE49-F238E27FC236}">
                <a16:creationId xmlns:a16="http://schemas.microsoft.com/office/drawing/2014/main" id="{EFF99C3E-F91B-7447-3657-6B61C2207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924" y="475075"/>
            <a:ext cx="1848620" cy="5881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2D100D-CC06-1AF1-C674-565C373AEF8F}"/>
              </a:ext>
            </a:extLst>
          </p:cNvPr>
          <p:cNvSpPr txBox="1"/>
          <p:nvPr/>
        </p:nvSpPr>
        <p:spPr>
          <a:xfrm>
            <a:off x="10211409" y="6356350"/>
            <a:ext cx="184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/>
              <a:t>Flowchart with Mermaid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7"/>
            <a:ext cx="4179570" cy="633688"/>
          </a:xfrm>
        </p:spPr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6144" y="5991225"/>
            <a:ext cx="1463040" cy="365125"/>
          </a:xfrm>
        </p:spPr>
        <p:txBody>
          <a:bodyPr rtlCol="0">
            <a:normAutofit/>
          </a:bodyPr>
          <a:lstStyle/>
          <a:p>
            <a:pPr rtl="0"/>
            <a:r>
              <a:rPr lang="en-GB" sz="1200" i="1" dirty="0"/>
              <a:t>Mahmoud Ali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F6FC7-E244-EA15-F104-78E6F22C0037}"/>
              </a:ext>
            </a:extLst>
          </p:cNvPr>
          <p:cNvSpPr txBox="1"/>
          <p:nvPr/>
        </p:nvSpPr>
        <p:spPr>
          <a:xfrm>
            <a:off x="4267200" y="2249425"/>
            <a:ext cx="253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Is Just the Start.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B7F10-1B22-8252-F5CC-290F88422F21}"/>
              </a:ext>
            </a:extLst>
          </p:cNvPr>
          <p:cNvSpPr txBox="1"/>
          <p:nvPr/>
        </p:nvSpPr>
        <p:spPr>
          <a:xfrm>
            <a:off x="5642229" y="3102559"/>
            <a:ext cx="33006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“This portfolio reflects what I can contribute today — but the real value lies in what we can build next.”</a:t>
            </a:r>
            <a:br>
              <a:rPr lang="en-GB" sz="1400" dirty="0"/>
            </a:br>
            <a:r>
              <a:rPr lang="en-GB" sz="1400" dirty="0"/>
              <a:t>From consumer research to performance dashboards, from product analysis to market expansion — I’m ready to support National Paints Group across </a:t>
            </a:r>
            <a:r>
              <a:rPr lang="en-GB" sz="1400" b="1" dirty="0"/>
              <a:t>implementation, field operations, and regional strategy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7_TF56180624_Win32" id="{9C9DE05E-573F-4B74-9E07-5048A314E5F0}" vid="{CC422194-82DE-4560-A159-6C2CDC2379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627</TotalTime>
  <Words>638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Tenorite</vt:lpstr>
      <vt:lpstr>Wingdings</vt:lpstr>
      <vt:lpstr>Monoline</vt:lpstr>
      <vt:lpstr>Impact from Day 1</vt:lpstr>
      <vt:lpstr>Summary</vt:lpstr>
      <vt:lpstr>PowerPoint Presentation</vt:lpstr>
      <vt:lpstr>Projects</vt:lpstr>
      <vt:lpstr>1. KSA Market Entry Research – Oral Care &amp; Functional Products</vt:lpstr>
      <vt:lpstr>2. SKU Profit &amp; Investment Planning Tool</vt:lpstr>
      <vt:lpstr>3. KPI Dashboard → SKU Performance Dashboard</vt:lpstr>
      <vt:lpstr>4. Clustering Market Segments</vt:lpstr>
      <vt:lpstr>Channel Turnaround Strategy- From Field Research to Profit Recovery ( Recent Success Story 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Ali</dc:creator>
  <cp:lastModifiedBy>Mahmoud Ali</cp:lastModifiedBy>
  <cp:revision>2</cp:revision>
  <dcterms:created xsi:type="dcterms:W3CDTF">2025-05-02T04:30:22Z</dcterms:created>
  <dcterms:modified xsi:type="dcterms:W3CDTF">2025-05-03T12:02:33Z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